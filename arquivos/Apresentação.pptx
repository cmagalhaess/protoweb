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913C0-9B7C-301B-69E0-3497D9079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7B5EC4-7304-E80A-BB98-B50494CA7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379F8D-CC29-411B-5D35-6D76312E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CC2168-E572-FCEF-AEDC-2C54C402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67886E-D496-0F67-58FB-5E5E4B8B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73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A19F5-EAFB-D24A-6532-127F4A96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ABEFD-DF94-6295-3627-0A4F5D2E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9A52-5518-F951-B341-BD607389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338245-1E99-D6D2-EC0E-A2B191D7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1DEEC-05F5-5468-D54F-E32DAEC6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47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A2C04-AD94-977E-6555-ACFB9089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95978A-E1A0-0FC2-7D45-86E907694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244FA0-4750-343E-7581-0C156304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5558F7-31B9-5C7C-5615-605282F5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7FEF9A-4FDD-76DA-F63A-857BD9E1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48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B4223-03FF-5756-7BF3-98874A35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FF95E-0A5C-9DA3-30C4-7D5FDF006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35BC5D-3427-97DD-4AA7-6F445E99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81D3C3-8878-B7ED-2D08-F48B15B6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77C57E-0500-67AD-75D2-1F01F824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8A48D-F379-1159-6A7E-B11EFA4A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83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4AFC5-CBA9-1ACA-69C2-154F21CB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E85068-53DE-64A5-B395-859CAE90D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577686-EE2A-AC4C-9CEF-FC6CBE4DC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D726EE-8F11-BF0F-2D2B-7FD0C5D23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6C0DB5-8C69-2A89-9141-BCB076EB5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1FECA0-BF75-E669-4CB2-5344AD44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53BC29-2400-AC84-4197-D6FAB64D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07E9E6-6279-8D93-6A90-D57EB798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37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AC6C8-FDA8-EA02-11E2-3EC76BDC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ABD620-034B-4BCB-FBD2-831FBC7E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B53DB8-9336-8C93-A3B8-398C7FB3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AA4F82-DD04-9378-0C22-8DE3E33A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66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3A85DA-E062-2F4D-3FF6-0730C9B0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2C0ED7-80DA-5738-2DDA-38088FF0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5CC5E5-7876-E6A7-4C9C-4E69F449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62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7764E-FC16-63B7-4B07-185254C1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434981-978C-6AC2-8516-7675447B6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A43352-FCBB-FA99-255F-B15449DE3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6BCDCE-654D-AAD3-CECE-E7E85B02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2243EC-D15E-6A1C-D999-EB064754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7CF5C1-048A-CE22-99FE-80CED7E1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3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BBE1B-076D-FBCA-001E-0055CEB4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AC36F9-6A71-700A-9289-3505FCC24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5CD3B4-3420-01A7-7F20-F2925B0D1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B4A3E7-F324-6661-D2F9-89189BC6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2376E7-2854-30C5-0DCF-DBE9CA7C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DD9AF1-FD14-6552-DB91-B1D4B259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7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017D6-1171-00D0-9942-643063D3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F87DF5-A032-3F18-14C6-D3E87EBA8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54892A-AD9A-CD68-EF9E-EB5AE788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01413B-498A-3907-4746-3D9D6C63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0BEA20-BC14-AF2C-AC62-F7EBD72C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44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F2704A-57EF-6198-F41A-5CF67398C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B0A4E5-E026-9A4F-A923-28025DB27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A07DBA-6245-C23E-AB5F-57E5BC3F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6634F-74C5-3284-5466-0F2AE3D9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4A7730-6FFB-E3C6-3714-F2FFE81C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33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A01F53-D623-D3C8-78C0-424D220E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693348-0089-59C7-4ACF-A41DCA289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0EE22C-1676-C994-C50A-84C472372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B2A00-CD7A-4E46-ABAB-1B9319772F28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1CEEE4-EC31-1579-848D-F6B1255CF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53D0CD-C9C0-8DA3-1441-43176DC15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19F77-9259-41C4-960D-6ECAE7435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54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194BF1A9-5BC6-FE67-694A-64D29D933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86" y="469820"/>
            <a:ext cx="6374126" cy="220528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0B3F7F4-0AE0-9FEB-74C5-A6122FB2C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86" y="5789986"/>
            <a:ext cx="6967512" cy="59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A4596-E35C-CFDD-8C2C-842532DB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90D36A-866D-9E97-C853-6FCDB872B7B3}"/>
              </a:ext>
            </a:extLst>
          </p:cNvPr>
          <p:cNvSpPr txBox="1"/>
          <p:nvPr/>
        </p:nvSpPr>
        <p:spPr>
          <a:xfrm>
            <a:off x="398944" y="189438"/>
            <a:ext cx="604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PROTOTIPAGEM DE INTERFACES E FERRAMENTAS PARA PROTOTIPAGEM DE INTERFACES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3A635A-BDA9-58AE-4C73-0022A959F262}"/>
              </a:ext>
            </a:extLst>
          </p:cNvPr>
          <p:cNvSpPr txBox="1"/>
          <p:nvPr/>
        </p:nvSpPr>
        <p:spPr>
          <a:xfrm>
            <a:off x="458981" y="1385547"/>
            <a:ext cx="990422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Associado à ODS 9 – Indústria, Inovação e Infraestrutura</a:t>
            </a:r>
            <a:endParaRPr lang="pt-BR" sz="2000" dirty="0"/>
          </a:p>
          <a:p>
            <a:r>
              <a:rPr lang="pt-BR" dirty="0"/>
              <a:t> </a:t>
            </a:r>
            <a:br>
              <a:rPr lang="pt-BR" dirty="0"/>
            </a:br>
            <a:r>
              <a:rPr lang="pt-BR" dirty="0"/>
              <a:t>Trabalho apresentado ao Centro Universitário Una, como requisito parcial para avaliação na disciplina de Usabilidade, Desenvolvimento Web, Mobile e Jogos, ministrado pelo professor Daniel Henrique Matos de Paiva.</a:t>
            </a:r>
          </a:p>
          <a:p>
            <a:br>
              <a:rPr lang="pt-BR" b="1" dirty="0"/>
            </a:br>
            <a:r>
              <a:rPr lang="pt-BR" b="1" dirty="0"/>
              <a:t>CONTAGEM – MG   |   2025</a:t>
            </a:r>
            <a:endParaRPr lang="pt-BR" dirty="0"/>
          </a:p>
          <a:p>
            <a:r>
              <a:rPr lang="pt-BR" dirty="0"/>
              <a:t> 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INTEGRANTES DO GRUPO</a:t>
            </a:r>
          </a:p>
          <a:p>
            <a:r>
              <a:rPr lang="pt-BR" dirty="0"/>
              <a:t>Caio Magalhães Rabelo Oliveira – 422139884</a:t>
            </a:r>
          </a:p>
          <a:p>
            <a:r>
              <a:rPr lang="pt-BR" dirty="0"/>
              <a:t>Rafael Souza Araújo – 422112554</a:t>
            </a:r>
          </a:p>
          <a:p>
            <a:r>
              <a:rPr lang="pt-BR" dirty="0"/>
              <a:t>Tiago Araújo Pires – 422220324</a:t>
            </a:r>
          </a:p>
          <a:p>
            <a:r>
              <a:rPr lang="pt-BR" dirty="0"/>
              <a:t>Marcos Paulo Corrêa Mendes – 422222331</a:t>
            </a:r>
          </a:p>
          <a:p>
            <a:r>
              <a:rPr lang="pt-BR" dirty="0"/>
              <a:t>Isabella Vitória Cardoso de Castro – 422220519</a:t>
            </a:r>
          </a:p>
          <a:p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42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CB093-7CD9-1F58-7498-DDF67D59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FECE795-3E65-1760-1F30-779D92ACCD4D}"/>
              </a:ext>
            </a:extLst>
          </p:cNvPr>
          <p:cNvSpPr txBox="1"/>
          <p:nvPr/>
        </p:nvSpPr>
        <p:spPr>
          <a:xfrm>
            <a:off x="398944" y="189438"/>
            <a:ext cx="604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PROTOTIPAGEM DE INTERFACES E FERRAMENTAS PARA PROTOTIPAGEM DE INTERFACES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FEF3EF-2EE5-CDBB-2388-32ED1CAA2F46}"/>
              </a:ext>
            </a:extLst>
          </p:cNvPr>
          <p:cNvSpPr txBox="1"/>
          <p:nvPr/>
        </p:nvSpPr>
        <p:spPr>
          <a:xfrm>
            <a:off x="417416" y="1052520"/>
            <a:ext cx="1059232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1. Introdução</a:t>
            </a:r>
          </a:p>
          <a:p>
            <a:r>
              <a:rPr lang="pt-BR" dirty="0"/>
              <a:t>A prototipagem de interfaces é uma etapa essencial no processo de desenvolvimento de sistemas, permitindo que designers e desenvolvedores validem a experiência do usuário antes da implementação final. Com o avanço das tecnologias digitais, surgiram diversas ferramentas que facilitam a criação de protótipos interativos, como </a:t>
            </a:r>
            <a:r>
              <a:rPr lang="pt-BR" dirty="0" err="1"/>
              <a:t>Figma</a:t>
            </a:r>
            <a:r>
              <a:rPr lang="pt-BR" dirty="0"/>
              <a:t>, Adobe XD e </a:t>
            </a:r>
            <a:r>
              <a:rPr lang="pt-BR" dirty="0" err="1"/>
              <a:t>Balsamiq</a:t>
            </a:r>
            <a:r>
              <a:rPr lang="pt-BR" dirty="0"/>
              <a:t>. Essas ferramentas desempenham um papel importante na inovação, alinhando-se à ODS 9 da ONU, que visa promover a indústria, a inovação e a infraestrutura sustentáveis.</a:t>
            </a:r>
            <a:br>
              <a:rPr lang="pt-BR" dirty="0"/>
            </a:br>
            <a:endParaRPr lang="pt-BR" dirty="0"/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17 ferramentas essenciais para UI designers: um guia para iniciantes">
            <a:extLst>
              <a:ext uri="{FF2B5EF4-FFF2-40B4-BE49-F238E27FC236}">
                <a16:creationId xmlns:a16="http://schemas.microsoft.com/office/drawing/2014/main" id="{D73CD2A4-8913-26CB-D43F-E175FB97E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32" y="3429000"/>
            <a:ext cx="6760723" cy="312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27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25446-0780-4456-31EC-BFEB0143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EDB427E-758F-9C7E-83A1-D6FAA3C6C773}"/>
              </a:ext>
            </a:extLst>
          </p:cNvPr>
          <p:cNvSpPr txBox="1"/>
          <p:nvPr/>
        </p:nvSpPr>
        <p:spPr>
          <a:xfrm>
            <a:off x="398944" y="189438"/>
            <a:ext cx="604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PROTOTIPAGEM DE INTERFACES E FERRAMENTAS PARA PROTOTIPAGEM DE INTERFACES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7C870B-CF3A-393C-C37A-CF35E721A92A}"/>
              </a:ext>
            </a:extLst>
          </p:cNvPr>
          <p:cNvSpPr txBox="1"/>
          <p:nvPr/>
        </p:nvSpPr>
        <p:spPr>
          <a:xfrm>
            <a:off x="446598" y="1188707"/>
            <a:ext cx="1059232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Desenvolvimento do Tema</a:t>
            </a:r>
          </a:p>
          <a:p>
            <a:r>
              <a:rPr lang="pt-BR" dirty="0"/>
              <a:t>As ferramentas de prototipagem têm se tornado fundamentais no design centrado no usuário. Elas permitem testar ideias, identificar problemas de usabilidade e apresentar soluções visuais de forma rápida. Entre as ferramentas mais populares estão o </a:t>
            </a:r>
            <a:r>
              <a:rPr lang="pt-BR" dirty="0" err="1"/>
              <a:t>Figma</a:t>
            </a:r>
            <a:r>
              <a:rPr lang="pt-BR" dirty="0"/>
              <a:t>, pela sua colaboração em tempo real; o Adobe XD, pela integração com o ecossistema Adobe; e o </a:t>
            </a:r>
            <a:r>
              <a:rPr lang="pt-BR" dirty="0" err="1"/>
              <a:t>Balsamiq</a:t>
            </a:r>
            <a:r>
              <a:rPr lang="pt-BR" dirty="0"/>
              <a:t>, pelo foco em protótipos de baixa fidelidade.</a:t>
            </a:r>
          </a:p>
          <a:p>
            <a:r>
              <a:rPr lang="pt-BR" dirty="0"/>
              <a:t>Neste contexto, propomos a criação da ferramenta </a:t>
            </a:r>
            <a:r>
              <a:rPr lang="pt-BR" dirty="0" err="1"/>
              <a:t>ProtoWeb</a:t>
            </a:r>
            <a:r>
              <a:rPr lang="pt-BR" dirty="0"/>
              <a:t>, uma aplicação web de prototipagem simples e acessível, voltada especialmente para o ambiente acadêmico e pequenas empresas. A </a:t>
            </a:r>
            <a:r>
              <a:rPr lang="pt-BR" dirty="0" err="1"/>
              <a:t>ProtoWeb</a:t>
            </a:r>
            <a:r>
              <a:rPr lang="pt-BR" dirty="0"/>
              <a:t> tem como objetivo democratizar o acesso a recursos de design, contribuindo diretamente com a inovação e a infraestrutura tecnológica (ODS 9).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3. Solução Proposta</a:t>
            </a:r>
          </a:p>
          <a:p>
            <a:r>
              <a:rPr lang="pt-BR" dirty="0"/>
              <a:t>O problema identificado é a dificuldade de acesso a ferramentas profissionais de design, que geralmente exigem licenças pagas ou alto poder computacional. A </a:t>
            </a:r>
            <a:r>
              <a:rPr lang="pt-BR" dirty="0" err="1"/>
              <a:t>ProtoWeb</a:t>
            </a:r>
            <a:r>
              <a:rPr lang="pt-BR" dirty="0"/>
              <a:t> surge como uma solução gratuita e leve, baseada em navegador, permitindo que qualquer pessoa possa criar protótipos de interfaces de forma intuitiva e colaborativa. Sua interface é dividida em uma barra lateral de componentes e uma área central de edição, permitindo arrastar e posicionar elementos visuais.</a:t>
            </a:r>
          </a:p>
          <a:p>
            <a:br>
              <a:rPr lang="pt-BR" dirty="0"/>
            </a:br>
            <a:endParaRPr lang="pt-BR" dirty="0"/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70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2DF2A-CCFB-9D87-3764-3A69A12A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C72B5B-F8EC-7484-424D-1331B2EC2AEA}"/>
              </a:ext>
            </a:extLst>
          </p:cNvPr>
          <p:cNvSpPr txBox="1"/>
          <p:nvPr/>
        </p:nvSpPr>
        <p:spPr>
          <a:xfrm>
            <a:off x="398944" y="189438"/>
            <a:ext cx="604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PROTOTIPAGEM DE INTERFACES E FERRAMENTAS PARA PROTOTIPAGEM DE INTERFACES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ACDE79-9BD3-B134-31BB-59B4DCC3BC7D}"/>
              </a:ext>
            </a:extLst>
          </p:cNvPr>
          <p:cNvSpPr txBox="1"/>
          <p:nvPr/>
        </p:nvSpPr>
        <p:spPr>
          <a:xfrm>
            <a:off x="417416" y="1052520"/>
            <a:ext cx="11394112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4. Exemplo de Código – Tela Principal da </a:t>
            </a:r>
            <a:r>
              <a:rPr lang="pt-BR" b="1" dirty="0" err="1"/>
              <a:t>ProtoWeb</a:t>
            </a:r>
            <a:endParaRPr lang="pt-BR" b="1" dirty="0"/>
          </a:p>
          <a:p>
            <a:r>
              <a:rPr lang="pt-BR" dirty="0"/>
              <a:t>A seguir, um exemplo simples de código HTML e CSS representando a interface inicial da </a:t>
            </a:r>
            <a:r>
              <a:rPr lang="pt-BR" dirty="0" err="1"/>
              <a:t>ProtoWeb</a:t>
            </a:r>
            <a:r>
              <a:rPr lang="pt-BR" dirty="0"/>
              <a:t>, com barra lateral de componentes e área de edição.</a:t>
            </a:r>
          </a:p>
          <a:p>
            <a:br>
              <a:rPr lang="pt-BR" dirty="0"/>
            </a:br>
            <a:r>
              <a:rPr lang="pt-BR" sz="1000" b="1" dirty="0"/>
              <a:t>&lt;!DOCTYPE </a:t>
            </a:r>
            <a:r>
              <a:rPr lang="pt-BR" sz="1000" b="1" dirty="0" err="1"/>
              <a:t>html</a:t>
            </a:r>
            <a:r>
              <a:rPr lang="pt-BR" sz="1000" b="1" dirty="0"/>
              <a:t>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html</a:t>
            </a:r>
            <a:r>
              <a:rPr lang="pt-BR" sz="1000" dirty="0"/>
              <a:t> </a:t>
            </a:r>
            <a:r>
              <a:rPr lang="pt-BR" sz="1000" dirty="0" err="1"/>
              <a:t>lang</a:t>
            </a:r>
            <a:r>
              <a:rPr lang="pt-BR" sz="1000" dirty="0"/>
              <a:t>="</a:t>
            </a:r>
            <a:r>
              <a:rPr lang="pt-BR" sz="1000" dirty="0" err="1"/>
              <a:t>pt</a:t>
            </a:r>
            <a:r>
              <a:rPr lang="pt-BR" sz="1000" dirty="0"/>
              <a:t>-BR"&gt;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&lt;meta </a:t>
            </a:r>
            <a:r>
              <a:rPr lang="pt-BR" sz="1000" dirty="0" err="1"/>
              <a:t>charset</a:t>
            </a:r>
            <a:r>
              <a:rPr lang="pt-BR" sz="1000" dirty="0"/>
              <a:t>="UTF-8"&gt;</a:t>
            </a:r>
            <a:br>
              <a:rPr lang="pt-BR" sz="1000" dirty="0"/>
            </a:br>
            <a:r>
              <a:rPr lang="pt-BR" sz="1000" dirty="0"/>
              <a:t>&lt;meta </a:t>
            </a:r>
            <a:r>
              <a:rPr lang="pt-BR" sz="1000" dirty="0" err="1"/>
              <a:t>name</a:t>
            </a:r>
            <a:r>
              <a:rPr lang="pt-BR" sz="1000" dirty="0"/>
              <a:t>="</a:t>
            </a:r>
            <a:r>
              <a:rPr lang="pt-BR" sz="1000" dirty="0" err="1"/>
              <a:t>viewport</a:t>
            </a:r>
            <a:r>
              <a:rPr lang="pt-BR" sz="1000" dirty="0"/>
              <a:t>" </a:t>
            </a:r>
            <a:r>
              <a:rPr lang="pt-BR" sz="1000" dirty="0" err="1"/>
              <a:t>content</a:t>
            </a:r>
            <a:r>
              <a:rPr lang="pt-BR" sz="1000" dirty="0"/>
              <a:t>="</a:t>
            </a:r>
            <a:r>
              <a:rPr lang="pt-BR" sz="1000" dirty="0" err="1"/>
              <a:t>width</a:t>
            </a:r>
            <a:r>
              <a:rPr lang="pt-BR" sz="1000" dirty="0"/>
              <a:t>=device-</a:t>
            </a:r>
            <a:r>
              <a:rPr lang="pt-BR" sz="1000" dirty="0" err="1"/>
              <a:t>width</a:t>
            </a:r>
            <a:r>
              <a:rPr lang="pt-BR" sz="1000" dirty="0"/>
              <a:t>, </a:t>
            </a:r>
            <a:r>
              <a:rPr lang="pt-BR" sz="1000" dirty="0" err="1"/>
              <a:t>initial-scale</a:t>
            </a:r>
            <a:r>
              <a:rPr lang="pt-BR" sz="1000" dirty="0"/>
              <a:t>=1.0"&gt;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title</a:t>
            </a:r>
            <a:r>
              <a:rPr lang="pt-BR" sz="1000" dirty="0"/>
              <a:t>&gt;</a:t>
            </a:r>
            <a:r>
              <a:rPr lang="pt-BR" sz="1000" dirty="0" err="1"/>
              <a:t>ProtoWeb</a:t>
            </a:r>
            <a:r>
              <a:rPr lang="pt-BR" sz="1000" dirty="0"/>
              <a:t> - Editor de Protótipos&lt;/</a:t>
            </a:r>
            <a:r>
              <a:rPr lang="pt-BR" sz="1000" dirty="0" err="1"/>
              <a:t>title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style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body { </a:t>
            </a:r>
            <a:r>
              <a:rPr lang="pt-BR" sz="1000" dirty="0" err="1"/>
              <a:t>margin</a:t>
            </a:r>
            <a:r>
              <a:rPr lang="pt-BR" sz="1000" dirty="0"/>
              <a:t>: 0; </a:t>
            </a:r>
            <a:r>
              <a:rPr lang="pt-BR" sz="1000" dirty="0" err="1"/>
              <a:t>font-family</a:t>
            </a:r>
            <a:r>
              <a:rPr lang="pt-BR" sz="1000" dirty="0"/>
              <a:t>: Arial; display: </a:t>
            </a:r>
            <a:r>
              <a:rPr lang="pt-BR" sz="1000" dirty="0" err="1"/>
              <a:t>flex</a:t>
            </a:r>
            <a:r>
              <a:rPr lang="pt-BR" sz="1000" dirty="0"/>
              <a:t>; </a:t>
            </a:r>
            <a:r>
              <a:rPr lang="pt-BR" sz="1000" dirty="0" err="1"/>
              <a:t>height</a:t>
            </a:r>
            <a:r>
              <a:rPr lang="pt-BR" sz="1000" dirty="0"/>
              <a:t>: 100vh; }</a:t>
            </a:r>
            <a:br>
              <a:rPr lang="pt-BR" sz="1000" dirty="0"/>
            </a:br>
            <a:r>
              <a:rPr lang="pt-BR" sz="1000" dirty="0"/>
              <a:t>.</a:t>
            </a:r>
            <a:r>
              <a:rPr lang="pt-BR" sz="1000" dirty="0" err="1"/>
              <a:t>sidebar</a:t>
            </a:r>
            <a:r>
              <a:rPr lang="pt-BR" sz="1000" dirty="0"/>
              <a:t> { </a:t>
            </a:r>
            <a:r>
              <a:rPr lang="pt-BR" sz="1000" dirty="0" err="1"/>
              <a:t>width</a:t>
            </a:r>
            <a:r>
              <a:rPr lang="pt-BR" sz="1000" dirty="0"/>
              <a:t>: 200px; background: #2f3640; color: </a:t>
            </a:r>
            <a:r>
              <a:rPr lang="pt-BR" sz="1000" dirty="0" err="1"/>
              <a:t>white</a:t>
            </a:r>
            <a:r>
              <a:rPr lang="pt-BR" sz="1000" dirty="0"/>
              <a:t>; </a:t>
            </a:r>
            <a:r>
              <a:rPr lang="pt-BR" sz="1000" dirty="0" err="1"/>
              <a:t>padding</a:t>
            </a:r>
            <a:r>
              <a:rPr lang="pt-BR" sz="1000" dirty="0"/>
              <a:t>: 10px; }</a:t>
            </a:r>
            <a:br>
              <a:rPr lang="pt-BR" sz="1000" dirty="0"/>
            </a:br>
            <a:r>
              <a:rPr lang="pt-BR" sz="1000" dirty="0"/>
              <a:t>.</a:t>
            </a:r>
            <a:r>
              <a:rPr lang="pt-BR" sz="1000" dirty="0" err="1"/>
              <a:t>sidebar</a:t>
            </a:r>
            <a:r>
              <a:rPr lang="pt-BR" sz="1000" dirty="0"/>
              <a:t> h2 { </a:t>
            </a:r>
            <a:r>
              <a:rPr lang="pt-BR" sz="1000" dirty="0" err="1"/>
              <a:t>text-align</a:t>
            </a:r>
            <a:r>
              <a:rPr lang="pt-BR" sz="1000" dirty="0"/>
              <a:t>: center; }</a:t>
            </a:r>
            <a:br>
              <a:rPr lang="pt-BR" sz="1000" dirty="0"/>
            </a:br>
            <a:r>
              <a:rPr lang="pt-BR" sz="1000" dirty="0"/>
              <a:t>.</a:t>
            </a:r>
            <a:r>
              <a:rPr lang="pt-BR" sz="1000" dirty="0" err="1"/>
              <a:t>component</a:t>
            </a:r>
            <a:r>
              <a:rPr lang="pt-BR" sz="1000" dirty="0"/>
              <a:t> { background: #718093; </a:t>
            </a:r>
            <a:r>
              <a:rPr lang="pt-BR" sz="1000" dirty="0" err="1"/>
              <a:t>margin</a:t>
            </a:r>
            <a:r>
              <a:rPr lang="pt-BR" sz="1000" dirty="0"/>
              <a:t>: 5px; </a:t>
            </a:r>
            <a:r>
              <a:rPr lang="pt-BR" sz="1000" dirty="0" err="1"/>
              <a:t>padding</a:t>
            </a:r>
            <a:r>
              <a:rPr lang="pt-BR" sz="1000" dirty="0"/>
              <a:t>: 8px; </a:t>
            </a:r>
            <a:r>
              <a:rPr lang="pt-BR" sz="1000" dirty="0" err="1"/>
              <a:t>border-radius</a:t>
            </a:r>
            <a:r>
              <a:rPr lang="pt-BR" sz="1000" dirty="0"/>
              <a:t>: 5px; cursor: </a:t>
            </a:r>
            <a:r>
              <a:rPr lang="pt-BR" sz="1000" dirty="0" err="1"/>
              <a:t>grab</a:t>
            </a:r>
            <a:r>
              <a:rPr lang="pt-BR" sz="1000" dirty="0"/>
              <a:t>; }</a:t>
            </a:r>
            <a:br>
              <a:rPr lang="pt-BR" sz="1000" dirty="0"/>
            </a:br>
            <a:r>
              <a:rPr lang="pt-BR" sz="1000" dirty="0"/>
              <a:t>.editor { </a:t>
            </a:r>
            <a:r>
              <a:rPr lang="pt-BR" sz="1000" dirty="0" err="1"/>
              <a:t>flex</a:t>
            </a:r>
            <a:r>
              <a:rPr lang="pt-BR" sz="1000" dirty="0"/>
              <a:t>: 1; background: #f5f6fa; display: </a:t>
            </a:r>
            <a:r>
              <a:rPr lang="pt-BR" sz="1000" dirty="0" err="1"/>
              <a:t>flex</a:t>
            </a:r>
            <a:r>
              <a:rPr lang="pt-BR" sz="1000" dirty="0"/>
              <a:t>; </a:t>
            </a:r>
            <a:r>
              <a:rPr lang="pt-BR" sz="1000" dirty="0" err="1"/>
              <a:t>align-items</a:t>
            </a:r>
            <a:r>
              <a:rPr lang="pt-BR" sz="1000" dirty="0"/>
              <a:t>: center; </a:t>
            </a:r>
            <a:r>
              <a:rPr lang="pt-BR" sz="1000" dirty="0" err="1"/>
              <a:t>justify-content</a:t>
            </a:r>
            <a:r>
              <a:rPr lang="pt-BR" sz="1000" dirty="0"/>
              <a:t>: center; }</a:t>
            </a:r>
            <a:br>
              <a:rPr lang="pt-BR" sz="1000" dirty="0"/>
            </a:br>
            <a:r>
              <a:rPr lang="pt-BR" sz="1000" dirty="0"/>
              <a:t>.</a:t>
            </a:r>
            <a:r>
              <a:rPr lang="pt-BR" sz="1000" dirty="0" err="1"/>
              <a:t>workspace</a:t>
            </a:r>
            <a:r>
              <a:rPr lang="pt-BR" sz="1000" dirty="0"/>
              <a:t> { </a:t>
            </a:r>
            <a:r>
              <a:rPr lang="pt-BR" sz="1000" dirty="0" err="1"/>
              <a:t>width</a:t>
            </a:r>
            <a:r>
              <a:rPr lang="pt-BR" sz="1000" dirty="0"/>
              <a:t>: 80%; </a:t>
            </a:r>
            <a:r>
              <a:rPr lang="pt-BR" sz="1000" dirty="0" err="1"/>
              <a:t>height</a:t>
            </a:r>
            <a:r>
              <a:rPr lang="pt-BR" sz="1000" dirty="0"/>
              <a:t>: 80%; </a:t>
            </a:r>
            <a:r>
              <a:rPr lang="pt-BR" sz="1000" dirty="0" err="1"/>
              <a:t>border</a:t>
            </a:r>
            <a:r>
              <a:rPr lang="pt-BR" sz="1000" dirty="0"/>
              <a:t>: 2px </a:t>
            </a:r>
            <a:r>
              <a:rPr lang="pt-BR" sz="1000" dirty="0" err="1"/>
              <a:t>dashed</a:t>
            </a:r>
            <a:r>
              <a:rPr lang="pt-BR" sz="1000" dirty="0"/>
              <a:t> #ccc; background: </a:t>
            </a:r>
            <a:r>
              <a:rPr lang="pt-BR" sz="1000" dirty="0" err="1"/>
              <a:t>white</a:t>
            </a:r>
            <a:r>
              <a:rPr lang="pt-BR" sz="1000" dirty="0"/>
              <a:t>; }</a:t>
            </a:r>
            <a:br>
              <a:rPr lang="pt-BR" sz="1000" dirty="0"/>
            </a:br>
            <a:r>
              <a:rPr lang="pt-BR" sz="1000" dirty="0"/>
              <a:t>&lt;/</a:t>
            </a:r>
            <a:r>
              <a:rPr lang="pt-BR" sz="1000" dirty="0" err="1"/>
              <a:t>style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&lt;/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&lt;body&gt;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</a:t>
            </a:r>
            <a:r>
              <a:rPr lang="pt-BR" sz="1000" dirty="0" err="1"/>
              <a:t>sidebar</a:t>
            </a:r>
            <a:r>
              <a:rPr lang="pt-BR" sz="1000" dirty="0"/>
              <a:t>"&gt;</a:t>
            </a:r>
            <a:br>
              <a:rPr lang="pt-BR" sz="1000" dirty="0"/>
            </a:br>
            <a:r>
              <a:rPr lang="pt-BR" sz="1000" dirty="0"/>
              <a:t>  &lt;h2&gt;Componentes&lt;/h2&gt;</a:t>
            </a:r>
            <a:br>
              <a:rPr lang="pt-BR" sz="1000" dirty="0"/>
            </a:br>
            <a:r>
              <a:rPr lang="pt-BR" sz="1000" dirty="0"/>
              <a:t>  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</a:t>
            </a:r>
            <a:r>
              <a:rPr lang="pt-BR" sz="1000" dirty="0" err="1"/>
              <a:t>component</a:t>
            </a:r>
            <a:r>
              <a:rPr lang="pt-BR" sz="1000" dirty="0"/>
              <a:t>"&gt;Botão&lt;/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  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</a:t>
            </a:r>
            <a:r>
              <a:rPr lang="pt-BR" sz="1000" dirty="0" err="1"/>
              <a:t>component</a:t>
            </a:r>
            <a:r>
              <a:rPr lang="pt-BR" sz="1000" dirty="0"/>
              <a:t>"&gt;Texto&lt;/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  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</a:t>
            </a:r>
            <a:r>
              <a:rPr lang="pt-BR" sz="1000" dirty="0" err="1"/>
              <a:t>component</a:t>
            </a:r>
            <a:r>
              <a:rPr lang="pt-BR" sz="1000" dirty="0"/>
              <a:t>"&gt;Imagem&lt;/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="editor"&gt;</a:t>
            </a:r>
            <a:br>
              <a:rPr lang="pt-BR" sz="1000" dirty="0"/>
            </a:br>
            <a:r>
              <a:rPr lang="pt-BR" sz="1000" dirty="0"/>
              <a:t>  &lt;</a:t>
            </a:r>
            <a:r>
              <a:rPr lang="pt-BR" sz="1000" dirty="0" err="1"/>
              <a:t>div</a:t>
            </a:r>
            <a:r>
              <a:rPr lang="pt-BR" sz="1000" dirty="0"/>
              <a:t> </a:t>
            </a:r>
            <a:r>
              <a:rPr lang="pt-BR" sz="1000" dirty="0" err="1"/>
              <a:t>class</a:t>
            </a:r>
            <a:r>
              <a:rPr lang="pt-BR" sz="1000" dirty="0"/>
              <a:t>="</a:t>
            </a:r>
            <a:r>
              <a:rPr lang="pt-BR" sz="1000" dirty="0" err="1"/>
              <a:t>workspace</a:t>
            </a:r>
            <a:r>
              <a:rPr lang="pt-BR" sz="1000" dirty="0"/>
              <a:t>"&gt;</a:t>
            </a:r>
            <a:br>
              <a:rPr lang="pt-BR" sz="1000" dirty="0"/>
            </a:br>
            <a:r>
              <a:rPr lang="pt-BR" sz="1000" dirty="0"/>
              <a:t>    &lt;p </a:t>
            </a:r>
            <a:r>
              <a:rPr lang="pt-BR" sz="1000" dirty="0" err="1"/>
              <a:t>style</a:t>
            </a:r>
            <a:r>
              <a:rPr lang="pt-BR" sz="1000" dirty="0"/>
              <a:t>="</a:t>
            </a:r>
            <a:r>
              <a:rPr lang="pt-BR" sz="1000" dirty="0" err="1"/>
              <a:t>text-align:center;color</a:t>
            </a:r>
            <a:r>
              <a:rPr lang="pt-BR" sz="1000" dirty="0"/>
              <a:t>:#999;"&gt;Arraste os componentes aqui&lt;/p&gt;</a:t>
            </a:r>
            <a:br>
              <a:rPr lang="pt-BR" sz="1000" dirty="0"/>
            </a:br>
            <a:r>
              <a:rPr lang="pt-BR" sz="1000" dirty="0"/>
              <a:t>  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  <a:br>
              <a:rPr lang="pt-BR" sz="1000" dirty="0"/>
            </a:br>
            <a:r>
              <a:rPr lang="pt-BR" sz="1000" dirty="0"/>
              <a:t>&lt;/body&gt;</a:t>
            </a:r>
            <a:br>
              <a:rPr lang="pt-BR" sz="1000" dirty="0"/>
            </a:br>
            <a:r>
              <a:rPr lang="pt-BR" sz="1000" b="1" dirty="0"/>
              <a:t>&lt;/</a:t>
            </a:r>
            <a:r>
              <a:rPr lang="pt-BR" sz="1000" b="1" dirty="0" err="1"/>
              <a:t>html</a:t>
            </a:r>
            <a:r>
              <a:rPr lang="pt-BR" sz="1000" b="1" dirty="0"/>
              <a:t>&gt;</a:t>
            </a:r>
            <a:br>
              <a:rPr lang="pt-BR" sz="1000" dirty="0"/>
            </a:br>
            <a:endParaRPr lang="pt-BR" sz="1000" dirty="0"/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050" name="Picture 2" descr="retroweb [steptail.com]">
            <a:extLst>
              <a:ext uri="{FF2B5EF4-FFF2-40B4-BE49-F238E27FC236}">
                <a16:creationId xmlns:a16="http://schemas.microsoft.com/office/drawing/2014/main" id="{607AA392-DCB7-B640-3786-0E9B62273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706" y="2262156"/>
            <a:ext cx="3543324" cy="354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45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7EBBA-29FC-1F8F-5BC8-704E6D3A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178448-283A-EBD7-5F53-271E6AFBB563}"/>
              </a:ext>
            </a:extLst>
          </p:cNvPr>
          <p:cNvSpPr txBox="1"/>
          <p:nvPr/>
        </p:nvSpPr>
        <p:spPr>
          <a:xfrm>
            <a:off x="398944" y="189438"/>
            <a:ext cx="604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PROTOTIPAGEM DE INTERFACES E FERRAMENTAS PARA PROTOTIPAGEM DE INTERFACES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FA0F55-8A7B-29B1-4A97-8513192CA455}"/>
              </a:ext>
            </a:extLst>
          </p:cNvPr>
          <p:cNvSpPr txBox="1"/>
          <p:nvPr/>
        </p:nvSpPr>
        <p:spPr>
          <a:xfrm>
            <a:off x="454362" y="1297817"/>
            <a:ext cx="1108185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5. Mercado e Aplicabilidade</a:t>
            </a:r>
          </a:p>
          <a:p>
            <a:r>
              <a:rPr lang="pt-BR" dirty="0"/>
              <a:t>O mercado de ferramentas de prototipagem está em constante crescimento, impulsionado pela transformação digital e pela valorização da experiência do usuário. Empresas como </a:t>
            </a:r>
            <a:r>
              <a:rPr lang="pt-BR" dirty="0" err="1"/>
              <a:t>Figma</a:t>
            </a:r>
            <a:r>
              <a:rPr lang="pt-BR" dirty="0"/>
              <a:t> e </a:t>
            </a:r>
            <a:r>
              <a:rPr lang="pt-BR" dirty="0" err="1"/>
              <a:t>Framer</a:t>
            </a:r>
            <a:r>
              <a:rPr lang="pt-BR" dirty="0"/>
              <a:t> demonstram o potencial de soluções que unem design e colaboração online. A </a:t>
            </a:r>
            <a:r>
              <a:rPr lang="pt-BR" dirty="0" err="1"/>
              <a:t>ProtoWeb</a:t>
            </a:r>
            <a:r>
              <a:rPr lang="pt-BR" dirty="0"/>
              <a:t> busca ocupar um espaço educacional e acessível, sendo ideal para universidades, startups e pequenas empresas.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6. Conclusão</a:t>
            </a:r>
          </a:p>
          <a:p>
            <a:r>
              <a:rPr lang="pt-BR" dirty="0"/>
              <a:t>A prototipagem de interfaces é um pilar essencial na criação de produtos digitais de qualidade. Com a proposta da ferramenta </a:t>
            </a:r>
            <a:r>
              <a:rPr lang="pt-BR" dirty="0" err="1"/>
              <a:t>ProtoWeb</a:t>
            </a:r>
            <a:r>
              <a:rPr lang="pt-BR" dirty="0"/>
              <a:t>, é possível incentivar a inovação, reduzir barreiras tecnológicas e apoiar o desenvolvimento sustentável da infraestrutura digital, alinhando-se diretamente à ODS 9.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7. Referências</a:t>
            </a:r>
          </a:p>
          <a:p>
            <a:r>
              <a:rPr lang="pt-BR" dirty="0"/>
              <a:t>ONU. Objetivos de Desenvolvimento Sustentável – ODS 9. </a:t>
            </a:r>
            <a:br>
              <a:rPr lang="pt-BR" dirty="0"/>
            </a:br>
            <a:r>
              <a:rPr lang="pt-BR" dirty="0"/>
              <a:t>Disponível em: https://brasil.un.org/</a:t>
            </a:r>
            <a:r>
              <a:rPr lang="pt-BR" dirty="0" err="1"/>
              <a:t>pt-br</a:t>
            </a:r>
            <a:r>
              <a:rPr lang="pt-BR" dirty="0"/>
              <a:t>/</a:t>
            </a:r>
            <a:r>
              <a:rPr lang="pt-BR" dirty="0" err="1"/>
              <a:t>sdgs</a:t>
            </a:r>
            <a:r>
              <a:rPr lang="pt-BR" dirty="0"/>
              <a:t>/9. Acesso em: 16 out. 2025.</a:t>
            </a:r>
          </a:p>
          <a:p>
            <a:r>
              <a:rPr lang="pt-BR" dirty="0"/>
              <a:t>FIGMA. Documentação oficial. Disponível em: https://www.figma.com/. Acesso em: 16 out. 2025.</a:t>
            </a:r>
          </a:p>
          <a:p>
            <a:r>
              <a:rPr lang="pt-BR" dirty="0"/>
              <a:t>ADOBE XD. Adobe Experience Design. Disponível em: https://www.adobe.com/</a:t>
            </a:r>
            <a:r>
              <a:rPr lang="pt-BR" dirty="0" err="1"/>
              <a:t>products</a:t>
            </a:r>
            <a:r>
              <a:rPr lang="pt-BR" dirty="0"/>
              <a:t>/xd.html. </a:t>
            </a:r>
            <a:br>
              <a:rPr lang="pt-BR" dirty="0"/>
            </a:br>
            <a:r>
              <a:rPr lang="pt-BR" dirty="0"/>
              <a:t>Acesso em: 16 out. 2025.</a:t>
            </a:r>
          </a:p>
          <a:p>
            <a:endParaRPr lang="pt-BR" dirty="0"/>
          </a:p>
          <a:p>
            <a:br>
              <a:rPr lang="pt-BR" sz="1000" dirty="0"/>
            </a:br>
            <a:endParaRPr lang="pt-BR" sz="1000" dirty="0"/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274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991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Araújo - 422112554</dc:creator>
  <cp:lastModifiedBy>Rafael Araújo - 422112554</cp:lastModifiedBy>
  <cp:revision>1</cp:revision>
  <dcterms:created xsi:type="dcterms:W3CDTF">2025-11-01T14:56:31Z</dcterms:created>
  <dcterms:modified xsi:type="dcterms:W3CDTF">2025-11-01T15:06:28Z</dcterms:modified>
</cp:coreProperties>
</file>